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1" r:id="rId11"/>
    <p:sldId id="259" r:id="rId12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06D4C7-8ADB-F0FF-A968-6E2CC145F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7A31D822-5D28-7732-707C-5CF3755BF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86D47CFD-0791-1FDB-A822-AC5EB5E5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C7312B13-9A61-17F5-602E-4B3167218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FDFAD03E-0FB8-6194-04D1-3F4440DFE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6441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33F8FB1-2940-604E-33F5-95F7C33D4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73192A4-2691-24EB-F7D4-AA385DE81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ABF89D73-9926-A0B5-5448-15F2F17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1E87321D-A03F-A407-00ED-5DB7D15C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497A57E9-9C67-37F6-C893-3FFFA142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1042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7E474F1-9A26-828E-3619-8CBEA37C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E709098A-4779-F7CD-1BF2-FBBB6E8D4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FE1FEE08-7B6B-DA83-4820-D00904D3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D44D9804-9A0E-1907-2CDF-185B4FBB0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0EBA12F8-3DDE-129E-2DFD-9F87FE61E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5453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C75F605-410D-C3CE-4889-FAE20C2FA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7D30785-1A3B-BACF-0184-EAC614117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3B0ABB66-B025-7F4D-7721-5E2DA8BF2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55506ED6-E532-B974-D526-4B7585A3D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74F8407A-113C-98D5-6A6B-127B2F2AB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A4DB73F7-1144-C3EE-E486-02106064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39730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B916972-268E-B6B5-C54B-FE8329D62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E930C350-9668-D21F-B9F3-797CBDBA6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D12E909B-0CCF-F23D-BC24-A2BA80A0D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89904547-A1B2-8B21-853A-6A12D9A07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300ECD6D-C959-7873-5226-635F33A5D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FBC1A8A8-458E-DC0B-906D-C8A1B69F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F18E82CD-0320-BE47-AAB1-11415F21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83762D45-6787-F2EA-68D7-FF241C15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6932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7C21368-52AB-3A95-88EC-66BD973AD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9BD06A43-A307-4223-71D1-3FDAC32D1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8A9E79DB-A193-0063-6F84-E3F10CFC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085C849A-6BFE-C26A-A672-5724DD9D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56291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F42E33CC-7065-5C3A-AE90-808C6F952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D7B2D8ED-F80D-D7F4-C7DE-4F042370D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8A44F1D0-7AFE-5408-BCCC-1F323180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6549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D1F9F96-81F6-E0BA-62A8-FCF6482EC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632C3CD-A3ED-7CD7-E534-E2F8B68EA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61B11369-61D2-8D4D-49E8-A02FAD432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1546265E-711E-8C57-AADB-3E1BAC061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F1F13F4C-2E2F-D828-E100-70F1E5D86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3A14C224-1E25-5A5C-2DEF-0CF7958E0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6686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2EF9F86-FDA6-DDA3-5E57-3B4FB8353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7AE06685-87CA-AE6B-B415-488020A2A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D5E853D9-9909-5A35-B766-5260DE7C5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F00C1099-4432-5334-408C-A24D02EC5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DD578C5D-3EBB-FC9F-6E51-C58C88A3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617DA05B-3E16-61FE-5211-25ABAE9C8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14276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5E284A0-FD55-9567-F59F-2123B749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0A278860-DB5F-4A3D-2DEA-C2BEB0A21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836A8002-51D5-4F55-04CE-3CD10DDFB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1FBC7D3A-D14A-3CDC-C977-59B3DCAE5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B48B45CE-4047-E281-7FEF-820559B0C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37295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86DFEC85-A39B-79D2-F886-70738F40B1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4C3CAD56-69BD-877B-7AC6-240BFAB03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6BD91F82-2882-7F5B-ADFF-0E000EA5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618944EB-47BB-92B4-E8CD-4215FE1A3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CA8DE898-975F-119E-6B9A-8054EC80F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6656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42136BB6-669F-E1AD-83D3-D5B2DA4AE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0F98ACA-71DD-0CC6-E81E-D51B08EA9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CCB17105-4BC1-5796-3243-C7833FA3C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04BAE2-CC50-430F-8AFB-875B0FFFEACC}" type="datetimeFigureOut">
              <a:rPr lang="hr-HR" smtClean="0"/>
              <a:t>6.11.2025.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6043B637-E211-726C-1AF7-96A50D9CA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D076143E-622D-1FD8-5388-0AA21D5AB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852E1-0E39-416D-BC43-E12E6E615B8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24621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pglobal.com/spdji/en/documents/research/research-what-happened-to-the-index-effect.pdf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A2B6DE4-10F2-4B18-E226-174E9F2AA1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S&amp;P </a:t>
            </a:r>
            <a:r>
              <a:rPr lang="hr-HR" dirty="0" err="1"/>
              <a:t>Additions</a:t>
            </a:r>
            <a:r>
              <a:rPr lang="hr-HR" dirty="0"/>
              <a:t>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Deletions</a:t>
            </a:r>
            <a:endParaRPr lang="hr-HR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C90354B3-2C84-FA27-9782-D0F2918FA0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>
                <a:hlinkClick r:id="rId2"/>
              </a:rPr>
              <a:t>https://www.spglobal.com/spdji/en/documents/research/research-what-happened-to-the-index-effect.pdf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0119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ka 2">
            <a:extLst>
              <a:ext uri="{FF2B5EF4-FFF2-40B4-BE49-F238E27FC236}">
                <a16:creationId xmlns:a16="http://schemas.microsoft.com/office/drawing/2014/main" id="{05D6552B-7126-E116-43AD-CFAF05E4E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806" y="1070811"/>
            <a:ext cx="9912388" cy="471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60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B40BB546-4E02-CAC7-4D3F-3414BA381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11215"/>
            <a:ext cx="5294716" cy="248851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Slika 2">
            <a:extLst>
              <a:ext uri="{FF2B5EF4-FFF2-40B4-BE49-F238E27FC236}">
                <a16:creationId xmlns:a16="http://schemas.microsoft.com/office/drawing/2014/main" id="{1AB12DE0-D1E3-251A-1B4B-50B27D29D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28" y="2158269"/>
            <a:ext cx="5294715" cy="254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437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872FC5FA-DE0C-046D-639C-4CB86BEA3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197647"/>
            <a:ext cx="5458968" cy="4462706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E8967F08-40D3-6734-262F-6705882F5E6F}"/>
              </a:ext>
            </a:extLst>
          </p:cNvPr>
          <p:cNvSpPr txBox="1"/>
          <p:nvPr/>
        </p:nvSpPr>
        <p:spPr>
          <a:xfrm>
            <a:off x="6739128" y="2664886"/>
            <a:ext cx="4818888" cy="3550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IDEJA: </a:t>
            </a:r>
            <a:r>
              <a:rPr lang="en-US" sz="2200" dirty="0" err="1"/>
              <a:t>ispitivanje</a:t>
            </a:r>
            <a:r>
              <a:rPr lang="en-US" sz="2200" dirty="0"/>
              <a:t> </a:t>
            </a:r>
            <a:r>
              <a:rPr lang="en-US" sz="2200" dirty="0" err="1"/>
              <a:t>indeks</a:t>
            </a:r>
            <a:r>
              <a:rPr lang="en-US" sz="2200" dirty="0"/>
              <a:t> </a:t>
            </a:r>
            <a:r>
              <a:rPr lang="en-US" sz="2200" dirty="0" err="1"/>
              <a:t>efekta</a:t>
            </a:r>
            <a:r>
              <a:rPr lang="hr-HR" sz="2200" dirty="0"/>
              <a:t>¸kod </a:t>
            </a:r>
            <a:r>
              <a:rPr lang="hr-HR" sz="2200" dirty="0" err="1"/>
              <a:t>additiona</a:t>
            </a:r>
            <a:r>
              <a:rPr lang="en-US" sz="2200" dirty="0"/>
              <a:t> </a:t>
            </a:r>
            <a:r>
              <a:rPr lang="en-US" sz="2200" dirty="0" err="1"/>
              <a:t>ovisno</a:t>
            </a:r>
            <a:r>
              <a:rPr lang="en-US" sz="2200" dirty="0"/>
              <a:t> o </a:t>
            </a:r>
            <a:r>
              <a:rPr lang="en-US" sz="2200" dirty="0" err="1"/>
              <a:t>izvoru</a:t>
            </a:r>
            <a:r>
              <a:rPr lang="en-US" sz="2200" dirty="0"/>
              <a:t> </a:t>
            </a:r>
            <a:r>
              <a:rPr lang="en-US" sz="2200" dirty="0" err="1"/>
              <a:t>iz</a:t>
            </a:r>
            <a:r>
              <a:rPr lang="en-US" sz="2200" dirty="0"/>
              <a:t> </a:t>
            </a:r>
            <a:r>
              <a:rPr lang="en-US" sz="2200" dirty="0" err="1"/>
              <a:t>kojeg</a:t>
            </a:r>
            <a:r>
              <a:rPr lang="en-US" sz="2200" dirty="0"/>
              <a:t> je </a:t>
            </a:r>
            <a:r>
              <a:rPr lang="en-US" sz="2200" dirty="0" err="1"/>
              <a:t>tvrtka</a:t>
            </a:r>
            <a:r>
              <a:rPr lang="en-US" sz="2200" dirty="0"/>
              <a:t> </a:t>
            </a:r>
            <a:r>
              <a:rPr lang="en-US" sz="2200" dirty="0" err="1"/>
              <a:t>dodana</a:t>
            </a:r>
            <a:r>
              <a:rPr lang="en-US" sz="2200" dirty="0"/>
              <a:t> u S&amp;P 500 (S&amp;P </a:t>
            </a:r>
            <a:r>
              <a:rPr lang="en-US" sz="2200" dirty="0" err="1"/>
              <a:t>MidCap</a:t>
            </a:r>
            <a:r>
              <a:rPr lang="en-US" sz="2200" dirty="0"/>
              <a:t> 400 </a:t>
            </a:r>
            <a:r>
              <a:rPr lang="en-US" sz="2200" dirty="0" err="1"/>
              <a:t>i</a:t>
            </a:r>
            <a:r>
              <a:rPr lang="en-US" sz="2200" dirty="0"/>
              <a:t> S&amp;P SmallCap 600® - Grupa 1, </a:t>
            </a:r>
            <a:r>
              <a:rPr lang="en-US" sz="2200" dirty="0" err="1"/>
              <a:t>ostale</a:t>
            </a:r>
            <a:r>
              <a:rPr lang="en-US" sz="2200" dirty="0"/>
              <a:t> </a:t>
            </a:r>
            <a:r>
              <a:rPr lang="en-US" sz="2200" dirty="0" err="1"/>
              <a:t>kompanije</a:t>
            </a:r>
            <a:r>
              <a:rPr lang="en-US" sz="2200" dirty="0"/>
              <a:t> – Grupa 2)</a:t>
            </a:r>
          </a:p>
        </p:txBody>
      </p:sp>
    </p:spTree>
    <p:extLst>
      <p:ext uri="{BB962C8B-B14F-4D97-AF65-F5344CB8AC3E}">
        <p14:creationId xmlns:p14="http://schemas.microsoft.com/office/powerpoint/2010/main" val="88539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29877-A71C-C181-620E-2292CEFB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9BDE3A0F-489F-F919-2A1C-CB5BAFAD4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184000"/>
            <a:ext cx="5458968" cy="4490000"/>
          </a:xfrm>
          <a:prstGeom prst="rect">
            <a:avLst/>
          </a:prstGeom>
        </p:spPr>
      </p:pic>
      <p:sp>
        <p:nvSpPr>
          <p:cNvPr id="26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kstniOkvir 1">
            <a:extLst>
              <a:ext uri="{FF2B5EF4-FFF2-40B4-BE49-F238E27FC236}">
                <a16:creationId xmlns:a16="http://schemas.microsoft.com/office/drawing/2014/main" id="{9FCDEAF6-D928-9E19-8407-FCC8A39FC404}"/>
              </a:ext>
            </a:extLst>
          </p:cNvPr>
          <p:cNvSpPr txBox="1"/>
          <p:nvPr/>
        </p:nvSpPr>
        <p:spPr>
          <a:xfrm>
            <a:off x="6739128" y="2664886"/>
            <a:ext cx="4818888" cy="3550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IDEJA: </a:t>
            </a:r>
            <a:r>
              <a:rPr lang="en-US" sz="2000" dirty="0" err="1"/>
              <a:t>ispitivanje</a:t>
            </a:r>
            <a:r>
              <a:rPr lang="en-US" sz="2000" dirty="0"/>
              <a:t> </a:t>
            </a:r>
            <a:r>
              <a:rPr lang="en-US" sz="2000" dirty="0" err="1"/>
              <a:t>indeks</a:t>
            </a:r>
            <a:r>
              <a:rPr lang="en-US" sz="2000" dirty="0"/>
              <a:t> </a:t>
            </a:r>
            <a:r>
              <a:rPr lang="en-US" sz="2000" dirty="0" err="1"/>
              <a:t>efekta</a:t>
            </a:r>
            <a:r>
              <a:rPr lang="en-US" sz="2000" dirty="0"/>
              <a:t> </a:t>
            </a:r>
            <a:r>
              <a:rPr lang="en-US" sz="2000" dirty="0" err="1"/>
              <a:t>kod</a:t>
            </a:r>
            <a:r>
              <a:rPr lang="en-US" sz="2000" dirty="0"/>
              <a:t> </a:t>
            </a:r>
            <a:r>
              <a:rPr lang="en-US" sz="2000" dirty="0" err="1"/>
              <a:t>deletiona</a:t>
            </a:r>
            <a:r>
              <a:rPr lang="en-US" sz="2000" dirty="0"/>
              <a:t> </a:t>
            </a:r>
            <a:r>
              <a:rPr lang="en-US" sz="2000" dirty="0" err="1"/>
              <a:t>ovisno</a:t>
            </a:r>
            <a:r>
              <a:rPr lang="en-US" sz="2000" dirty="0"/>
              <a:t> o tome je li </a:t>
            </a:r>
            <a:r>
              <a:rPr lang="en-US" sz="2000" dirty="0" err="1"/>
              <a:t>dionca</a:t>
            </a:r>
            <a:r>
              <a:rPr lang="en-US" sz="2000" dirty="0"/>
              <a:t> </a:t>
            </a:r>
            <a:r>
              <a:rPr lang="en-US" sz="2000" dirty="0" err="1"/>
              <a:t>dodana</a:t>
            </a:r>
            <a:r>
              <a:rPr lang="en-US" sz="2000" dirty="0"/>
              <a:t> u </a:t>
            </a:r>
            <a:r>
              <a:rPr lang="en-US" sz="2000" dirty="0" err="1"/>
              <a:t>neki</a:t>
            </a:r>
            <a:r>
              <a:rPr lang="en-US" sz="2000" dirty="0"/>
              <a:t> </a:t>
            </a:r>
            <a:r>
              <a:rPr lang="en-US" sz="2000" dirty="0" err="1"/>
              <a:t>drugi</a:t>
            </a:r>
            <a:r>
              <a:rPr lang="en-US" sz="2000" dirty="0"/>
              <a:t> fond </a:t>
            </a:r>
            <a:r>
              <a:rPr lang="en-US" sz="2000" dirty="0" err="1"/>
              <a:t>nakon</a:t>
            </a:r>
            <a:r>
              <a:rPr lang="en-US" sz="2000" dirty="0"/>
              <a:t> </a:t>
            </a:r>
            <a:r>
              <a:rPr lang="en-US" sz="2000" dirty="0" err="1"/>
              <a:t>izbacivanja</a:t>
            </a:r>
            <a:r>
              <a:rPr lang="en-US" sz="2000" dirty="0"/>
              <a:t> (S&amp;P </a:t>
            </a:r>
            <a:r>
              <a:rPr lang="en-US" sz="2000" dirty="0" err="1"/>
              <a:t>MidCap</a:t>
            </a:r>
            <a:r>
              <a:rPr lang="en-US" sz="2000" dirty="0"/>
              <a:t> 400 </a:t>
            </a:r>
            <a:r>
              <a:rPr lang="en-US" sz="2000" dirty="0" err="1"/>
              <a:t>i</a:t>
            </a:r>
            <a:r>
              <a:rPr lang="en-US" sz="2000" dirty="0"/>
              <a:t> S&amp;P SmallCap 600® - Grupa 3, </a:t>
            </a:r>
            <a:r>
              <a:rPr lang="en-US" sz="2000" dirty="0" err="1"/>
              <a:t>ostale</a:t>
            </a:r>
            <a:r>
              <a:rPr lang="en-US" sz="2000" dirty="0"/>
              <a:t> </a:t>
            </a:r>
            <a:r>
              <a:rPr lang="en-US" sz="2000" dirty="0" err="1"/>
              <a:t>kompanije</a:t>
            </a:r>
            <a:r>
              <a:rPr lang="en-US" sz="2000" dirty="0"/>
              <a:t> – Grupa 4)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Manji repricing </a:t>
            </a:r>
            <a:r>
              <a:rPr lang="en-US" sz="2000" dirty="0" err="1"/>
              <a:t>likvidnijih</a:t>
            </a:r>
            <a:r>
              <a:rPr lang="en-US" sz="2000" dirty="0"/>
              <a:t> </a:t>
            </a:r>
            <a:r>
              <a:rPr lang="en-US" sz="2000" dirty="0" err="1"/>
              <a:t>dionica</a:t>
            </a:r>
            <a:r>
              <a:rPr lang="en-US" sz="2000" dirty="0"/>
              <a:t> </a:t>
            </a:r>
            <a:r>
              <a:rPr lang="en-US" sz="2000" dirty="0" err="1"/>
              <a:t>koje</a:t>
            </a:r>
            <a:r>
              <a:rPr lang="en-US" sz="2000" dirty="0"/>
              <a:t> </a:t>
            </a:r>
            <a:r>
              <a:rPr lang="en-US" sz="2000" dirty="0" err="1"/>
              <a:t>ostaju</a:t>
            </a:r>
            <a:r>
              <a:rPr lang="en-US" sz="2000" dirty="0"/>
              <a:t> u </a:t>
            </a:r>
            <a:r>
              <a:rPr lang="en-US" sz="2000" dirty="0" err="1"/>
              <a:t>nekom</a:t>
            </a:r>
            <a:r>
              <a:rPr lang="en-US" sz="2000" dirty="0"/>
              <a:t> od </a:t>
            </a:r>
            <a:r>
              <a:rPr lang="en-US" sz="2000" dirty="0" err="1"/>
              <a:t>navedenih</a:t>
            </a:r>
            <a:r>
              <a:rPr lang="en-US" sz="2000" dirty="0"/>
              <a:t> </a:t>
            </a:r>
            <a:r>
              <a:rPr lang="en-US" sz="2000" dirty="0" err="1"/>
              <a:t>indeksa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? – </a:t>
            </a:r>
            <a:r>
              <a:rPr lang="en-US" sz="2000" dirty="0" err="1"/>
              <a:t>svakako</a:t>
            </a:r>
            <a:r>
              <a:rPr lang="en-US" sz="2000" dirty="0"/>
              <a:t> </a:t>
            </a:r>
            <a:r>
              <a:rPr lang="en-US" sz="2000" dirty="0" err="1"/>
              <a:t>promatrati</a:t>
            </a:r>
            <a:r>
              <a:rPr lang="en-US" sz="2000" dirty="0"/>
              <a:t> </a:t>
            </a:r>
            <a:r>
              <a:rPr lang="en-US" sz="2000" dirty="0" err="1"/>
              <a:t>likvidnost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04295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niOkvir 1">
            <a:extLst>
              <a:ext uri="{FF2B5EF4-FFF2-40B4-BE49-F238E27FC236}">
                <a16:creationId xmlns:a16="http://schemas.microsoft.com/office/drawing/2014/main" id="{AAA4D664-A6DA-6E3C-88E7-B95DF8937F5A}"/>
              </a:ext>
            </a:extLst>
          </p:cNvPr>
          <p:cNvSpPr txBox="1"/>
          <p:nvPr/>
        </p:nvSpPr>
        <p:spPr>
          <a:xfrm>
            <a:off x="1989221" y="1713145"/>
            <a:ext cx="8213558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800" dirty="0"/>
              <a:t>SECTOR MEMBERSHIP – ima li sektorska pripadnost utjecaj na indeks efekt?</a:t>
            </a:r>
          </a:p>
          <a:p>
            <a:endParaRPr lang="hr-HR" sz="2300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hr-HR" sz="2300" dirty="0"/>
              <a:t>GICS klasifikacija, klasificiranje po prihodima, zaradi, percepciji tržišta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hr-HR" sz="2300" dirty="0"/>
              <a:t>Tvrtke unutar istog sektora – slične reakcije?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hr-HR" sz="2300" dirty="0"/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hr-HR" sz="2300" dirty="0"/>
              <a:t>Zaključak iz </a:t>
            </a:r>
            <a:r>
              <a:rPr lang="hr-HR" sz="2300" dirty="0" err="1"/>
              <a:t>papera</a:t>
            </a:r>
            <a:r>
              <a:rPr lang="hr-HR" sz="2300" dirty="0"/>
              <a:t>: nema značajnih razlika u indeks efektu među sektorima</a:t>
            </a:r>
          </a:p>
        </p:txBody>
      </p:sp>
    </p:spTree>
    <p:extLst>
      <p:ext uri="{BB962C8B-B14F-4D97-AF65-F5344CB8AC3E}">
        <p14:creationId xmlns:p14="http://schemas.microsoft.com/office/powerpoint/2010/main" val="580189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niOkvir 2">
            <a:extLst>
              <a:ext uri="{FF2B5EF4-FFF2-40B4-BE49-F238E27FC236}">
                <a16:creationId xmlns:a16="http://schemas.microsoft.com/office/drawing/2014/main" id="{FE79FC25-D3F8-4FA1-EFC2-B4F5861A93C8}"/>
              </a:ext>
            </a:extLst>
          </p:cNvPr>
          <p:cNvSpPr txBox="1"/>
          <p:nvPr/>
        </p:nvSpPr>
        <p:spPr>
          <a:xfrm>
            <a:off x="1283368" y="2274838"/>
            <a:ext cx="87589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hr-HR" dirty="0"/>
              <a:t>Još nekoliko analiza u </a:t>
            </a:r>
            <a:r>
              <a:rPr lang="hr-HR" dirty="0" err="1"/>
              <a:t>paperu</a:t>
            </a:r>
            <a:r>
              <a:rPr lang="hr-HR" dirty="0"/>
              <a:t>, proučavanje kupovnog pritiska pri </a:t>
            </a:r>
            <a:r>
              <a:rPr lang="hr-HR" dirty="0" err="1"/>
              <a:t>addtitionu</a:t>
            </a:r>
            <a:r>
              <a:rPr lang="hr-HR" dirty="0"/>
              <a:t> u S&amp;P 500</a:t>
            </a:r>
          </a:p>
          <a:p>
            <a:pPr marL="285750" indent="-285750">
              <a:buFontTx/>
              <a:buChar char="-"/>
            </a:pPr>
            <a:r>
              <a:rPr lang="hr-HR" dirty="0"/>
              <a:t>(uvodi se </a:t>
            </a:r>
            <a:r>
              <a:rPr lang="hr-HR" dirty="0" err="1"/>
              <a:t>incremetnal</a:t>
            </a:r>
            <a:r>
              <a:rPr lang="hr-HR" dirty="0"/>
              <a:t> </a:t>
            </a:r>
            <a:r>
              <a:rPr lang="hr-HR" dirty="0" err="1"/>
              <a:t>indexed</a:t>
            </a:r>
            <a:r>
              <a:rPr lang="hr-HR" dirty="0"/>
              <a:t> </a:t>
            </a:r>
            <a:r>
              <a:rPr lang="hr-HR" dirty="0" err="1"/>
              <a:t>assets</a:t>
            </a:r>
            <a:r>
              <a:rPr lang="hr-HR" dirty="0"/>
              <a:t> – razlika između potrebne kupnje i potencijalne prodaje?)</a:t>
            </a:r>
          </a:p>
          <a:p>
            <a:pPr marL="285750" indent="-285750">
              <a:buFontTx/>
              <a:buChar char="-"/>
            </a:pPr>
            <a:endParaRPr lang="hr-HR" dirty="0"/>
          </a:p>
          <a:p>
            <a:pPr marL="285750" indent="-285750">
              <a:buFontTx/>
              <a:buChar char="-"/>
            </a:pPr>
            <a:r>
              <a:rPr lang="hr-HR" dirty="0"/>
              <a:t>Zaključak: Veća likvidnost i prisutnost u drugim indeksima mogu značajno smanjiti kupovni pritisak prilikom dodavanja u S&amp;P 500, što ublažava indeks efekt?</a:t>
            </a:r>
          </a:p>
          <a:p>
            <a:pPr marL="285750" indent="-285750">
              <a:buFontTx/>
              <a:buChar char="-"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807015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niOkvir 1">
            <a:extLst>
              <a:ext uri="{FF2B5EF4-FFF2-40B4-BE49-F238E27FC236}">
                <a16:creationId xmlns:a16="http://schemas.microsoft.com/office/drawing/2014/main" id="{E04A9DF6-5828-7703-789B-BE2FF86E8394}"/>
              </a:ext>
            </a:extLst>
          </p:cNvPr>
          <p:cNvSpPr txBox="1"/>
          <p:nvPr/>
        </p:nvSpPr>
        <p:spPr>
          <a:xfrm>
            <a:off x="1010653" y="906560"/>
            <a:ext cx="96252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ZAKLJUČAK:</a:t>
            </a:r>
          </a:p>
          <a:p>
            <a:endParaRPr lang="hr-HR" dirty="0"/>
          </a:p>
          <a:p>
            <a:pPr marL="285750" indent="-285750">
              <a:buFontTx/>
              <a:buChar char="-"/>
            </a:pPr>
            <a:r>
              <a:rPr lang="hr-HR" dirty="0"/>
              <a:t>Indeks efekt (na američkom tržištu) je oslabio u zadnjih 25 godina</a:t>
            </a:r>
          </a:p>
          <a:p>
            <a:pPr marL="742950" lvl="1" indent="-285750">
              <a:buFontTx/>
              <a:buChar char="-"/>
            </a:pPr>
            <a:r>
              <a:rPr lang="hr-HR" dirty="0"/>
              <a:t>Rast pasivnog investiranja, veća dubina i likvidnost, povećana efikasnost?</a:t>
            </a:r>
          </a:p>
          <a:p>
            <a:pPr marL="742950" lvl="1" indent="-285750">
              <a:buFontTx/>
              <a:buChar char="-"/>
            </a:pPr>
            <a:endParaRPr lang="hr-HR" dirty="0"/>
          </a:p>
          <a:p>
            <a:pPr lvl="1"/>
            <a:endParaRPr lang="hr-HR" dirty="0"/>
          </a:p>
        </p:txBody>
      </p:sp>
      <p:sp>
        <p:nvSpPr>
          <p:cNvPr id="3" name="TekstniOkvir 2">
            <a:extLst>
              <a:ext uri="{FF2B5EF4-FFF2-40B4-BE49-F238E27FC236}">
                <a16:creationId xmlns:a16="http://schemas.microsoft.com/office/drawing/2014/main" id="{7C0C128C-1986-1077-2F24-E21D0A2559FC}"/>
              </a:ext>
            </a:extLst>
          </p:cNvPr>
          <p:cNvSpPr txBox="1"/>
          <p:nvPr/>
        </p:nvSpPr>
        <p:spPr>
          <a:xfrm>
            <a:off x="1010653" y="2812119"/>
            <a:ext cx="109407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hr-HR" dirty="0"/>
              <a:t>Te promjene ne vrijede za hrvatsko tržište, možda efekt bude vidljiv kao onaj na američkom tržištu 2000-ih?</a:t>
            </a:r>
          </a:p>
          <a:p>
            <a:pPr marL="285750" indent="-285750">
              <a:buFontTx/>
              <a:buChar char="-"/>
            </a:pPr>
            <a:endParaRPr lang="hr-HR" dirty="0"/>
          </a:p>
          <a:p>
            <a:pPr marL="285750" indent="-285750">
              <a:buFontTx/>
              <a:buChar char="-"/>
            </a:pPr>
            <a:r>
              <a:rPr lang="hr-HR" dirty="0"/>
              <a:t>Neki parametri koji bi se također mogli promatrati:</a:t>
            </a:r>
          </a:p>
          <a:p>
            <a:pPr marL="742950" lvl="1" indent="-285750">
              <a:buFontTx/>
              <a:buChar char="-"/>
            </a:pPr>
            <a:r>
              <a:rPr lang="hr-HR" dirty="0"/>
              <a:t>Market Cap</a:t>
            </a:r>
          </a:p>
          <a:p>
            <a:pPr marL="742950" lvl="1" indent="-285750">
              <a:buFontTx/>
              <a:buChar char="-"/>
            </a:pPr>
            <a:r>
              <a:rPr lang="hr-HR" dirty="0"/>
              <a:t>Vrijeme objave , volatilnost u trenutku </a:t>
            </a:r>
            <a:r>
              <a:rPr lang="hr-HR" dirty="0" err="1"/>
              <a:t>additiona</a:t>
            </a:r>
            <a:r>
              <a:rPr lang="hr-HR" dirty="0"/>
              <a:t>/</a:t>
            </a:r>
            <a:r>
              <a:rPr lang="hr-HR" dirty="0" err="1"/>
              <a:t>deletiona</a:t>
            </a:r>
            <a:endParaRPr lang="hr-HR" dirty="0"/>
          </a:p>
          <a:p>
            <a:pPr marL="742950" lvl="1" indent="-285750">
              <a:buFontTx/>
              <a:buChar char="-"/>
            </a:pPr>
            <a:r>
              <a:rPr lang="hr-HR" dirty="0"/>
              <a:t>Metrike </a:t>
            </a:r>
            <a:r>
              <a:rPr lang="hr-HR" dirty="0" err="1"/>
              <a:t>valuacije</a:t>
            </a:r>
            <a:r>
              <a:rPr lang="hr-HR" dirty="0"/>
              <a:t>? (P/E)</a:t>
            </a:r>
          </a:p>
          <a:p>
            <a:pPr marL="742950" lvl="1" indent="-285750">
              <a:buFontTx/>
              <a:buChar char="-"/>
            </a:pPr>
            <a:endParaRPr lang="hr-HR" dirty="0"/>
          </a:p>
          <a:p>
            <a:pPr marL="285750" indent="-285750">
              <a:buFontTx/>
              <a:buChar char="-"/>
            </a:pPr>
            <a:endParaRPr lang="hr-HR" dirty="0"/>
          </a:p>
          <a:p>
            <a:pPr marL="285750" indent="-285750">
              <a:buFontTx/>
              <a:buChar char="-"/>
            </a:pPr>
            <a:endParaRPr lang="hr-HR" dirty="0"/>
          </a:p>
          <a:p>
            <a:pPr marL="285750" indent="-285750">
              <a:buFontTx/>
              <a:buChar char="-"/>
            </a:pPr>
            <a:endParaRPr lang="hr-HR" dirty="0"/>
          </a:p>
          <a:p>
            <a:pPr marL="285750" indent="-285750">
              <a:buFontTx/>
              <a:buChar char="-"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28603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niOkvir 1">
            <a:extLst>
              <a:ext uri="{FF2B5EF4-FFF2-40B4-BE49-F238E27FC236}">
                <a16:creationId xmlns:a16="http://schemas.microsoft.com/office/drawing/2014/main" id="{BD8BBB6F-5AF7-2CFC-C332-D17F31CF540B}"/>
              </a:ext>
            </a:extLst>
          </p:cNvPr>
          <p:cNvSpPr txBox="1"/>
          <p:nvPr/>
        </p:nvSpPr>
        <p:spPr>
          <a:xfrm>
            <a:off x="4283242" y="2998113"/>
            <a:ext cx="49570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5000" b="1" dirty="0"/>
              <a:t>REZULTATI</a:t>
            </a:r>
          </a:p>
        </p:txBody>
      </p:sp>
    </p:spTree>
    <p:extLst>
      <p:ext uri="{BB962C8B-B14F-4D97-AF65-F5344CB8AC3E}">
        <p14:creationId xmlns:p14="http://schemas.microsoft.com/office/powerpoint/2010/main" val="1512232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CF8EE-DC22-A2AB-B5F5-E954BF13E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D0FB400-5A6A-29E9-38B2-ADD5D8081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hr-HR" sz="2500" dirty="0">
                <a:solidFill>
                  <a:srgbClr val="FFFFFF"/>
                </a:solidFill>
              </a:rPr>
              <a:t>DELETIONS – EVENT DATE</a:t>
            </a:r>
          </a:p>
        </p:txBody>
      </p:sp>
      <p:sp>
        <p:nvSpPr>
          <p:cNvPr id="3" name="Naslov 1">
            <a:extLst>
              <a:ext uri="{FF2B5EF4-FFF2-40B4-BE49-F238E27FC236}">
                <a16:creationId xmlns:a16="http://schemas.microsoft.com/office/drawing/2014/main" id="{227D36AB-901F-E222-EAD6-326552C2A6D9}"/>
              </a:ext>
            </a:extLst>
          </p:cNvPr>
          <p:cNvSpPr txBox="1">
            <a:spLocks/>
          </p:cNvSpPr>
          <p:nvPr/>
        </p:nvSpPr>
        <p:spPr>
          <a:xfrm>
            <a:off x="838200" y="184805"/>
            <a:ext cx="10515600" cy="1505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sz="5200" dirty="0"/>
              <a:t>ADDITIONS – EVENT DATE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8269FE03-93F7-0888-3E75-0F2ACEF62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20" y="1430350"/>
            <a:ext cx="9716159" cy="482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90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8ABA2965-22DB-F0E3-6013-DCD19D61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hr-HR" sz="5200" dirty="0"/>
              <a:t>DELETIONS – EVENT DATE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ED2E6BA6-500B-9993-4D8F-EFCBF7437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06" y="1562351"/>
            <a:ext cx="9728939" cy="4840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9302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177</TotalTime>
  <Words>316</Words>
  <Application>Microsoft Office PowerPoint</Application>
  <PresentationFormat>Široki zaslon</PresentationFormat>
  <Paragraphs>35</Paragraphs>
  <Slides>11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Tema sustava Office</vt:lpstr>
      <vt:lpstr>S&amp;P Additions and Deletions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DELETIONS – EVENT DATE</vt:lpstr>
      <vt:lpstr>DELETIONS – EVENT 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Damjan Crnković</dc:creator>
  <cp:lastModifiedBy>Damjan Crnković</cp:lastModifiedBy>
  <cp:revision>2</cp:revision>
  <dcterms:created xsi:type="dcterms:W3CDTF">2025-11-05T20:42:33Z</dcterms:created>
  <dcterms:modified xsi:type="dcterms:W3CDTF">2025-11-06T12:16:45Z</dcterms:modified>
</cp:coreProperties>
</file>